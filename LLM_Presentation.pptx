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936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Prompt"/>
              </a:rPr>
              <a:t>ENGCE 408  ·  ปัญญาประดิษฐ์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69494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AFAF9"/>
                </a:solidFill>
                <a:latin typeface="Prompt"/>
              </a:rPr>
              <a:t>กระบวนทัศน์ใหม่
ของการรู้จำรูปแบบ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D3D1"/>
                </a:solidFill>
                <a:latin typeface="Prompt"/>
              </a:rPr>
              <a:t>จาก LSTM สู่ Transformer — การเปรียบเทียบเชิงประจักษ์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D6D3D1"/>
                </a:solidFill>
                <a:latin typeface="Prompt"/>
              </a:rPr>
              <a:t>บนงานจำแนกความรู้สึก (Sentiment Analysis) ชุดข้อมูล IMDb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114800"/>
            <a:ext cx="146304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4434840"/>
            <a:ext cx="6949440" cy="1770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ชื่อผู้จัดทำ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ชยุตม์ อยู่เจริญกิจ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รหัสนักศึกษา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67543206046-4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รายวิชา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/ </a:t>
            </a:r>
            <a:r>
              <a:rPr sz="1400" b="0" i="0" dirty="0" err="1">
                <a:solidFill>
                  <a:srgbClr val="78716C"/>
                </a:solidFill>
                <a:latin typeface="Prompt"/>
              </a:rPr>
              <a:t>กลุ่มเรียน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ENGCE408_SEC1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อาจารย์ผู้สอน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 err="1">
                <a:solidFill>
                  <a:srgbClr val="FAFAF9"/>
                </a:solidFill>
                <a:latin typeface="Prompt"/>
              </a:rPr>
              <a:t>ผศ.ดร.สมนึก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 </a:t>
            </a:r>
            <a:r>
              <a:rPr sz="1500" b="1" i="0" dirty="0" err="1">
                <a:solidFill>
                  <a:srgbClr val="FAFAF9"/>
                </a:solidFill>
                <a:latin typeface="Prompt"/>
              </a:rPr>
              <a:t>สุระธง</a:t>
            </a:r>
            <a:endParaRPr sz="15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0" i="0" dirty="0" err="1">
                <a:solidFill>
                  <a:srgbClr val="78716C"/>
                </a:solidFill>
                <a:latin typeface="Prompt"/>
              </a:rPr>
              <a:t>ภาคการศึกษา</a:t>
            </a:r>
            <a:r>
              <a:rPr sz="1400" b="0" i="0" dirty="0">
                <a:solidFill>
                  <a:srgbClr val="78716C"/>
                </a:solidFill>
                <a:latin typeface="Prompt"/>
              </a:rPr>
              <a:t>   </a:t>
            </a:r>
            <a:r>
              <a:rPr sz="1500" b="1" i="0" dirty="0">
                <a:solidFill>
                  <a:srgbClr val="FAFAF9"/>
                </a:solidFill>
                <a:latin typeface="Prompt"/>
              </a:rPr>
              <a:t>1/2569</a:t>
            </a:r>
          </a:p>
        </p:txBody>
      </p:sp>
      <p:pic>
        <p:nvPicPr>
          <p:cNvPr id="8" name="Picture 7" descr="b3ac3fcbe52099da92f4182926ffa4a67626261eb65249c10574938d7261f0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2817" y="1463040"/>
            <a:ext cx="1868285" cy="2651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549640" y="4434840"/>
            <a:ext cx="2834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AFAF9"/>
                </a:solidFill>
                <a:latin typeface="Prompt"/>
              </a:rPr>
              <a:t>มหาวิทยาลัยเทคโนโลยี
ราชมงคลล้านนา เชียงใหม่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FBBF24"/>
                </a:solidFill>
                <a:latin typeface="JetBrains Mono"/>
              </a:rPr>
              <a:t>RMUTL CHIANG MAI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01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ที่มาและความสำคัญของปัญหา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Why sentiment analysis still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6766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i="0" dirty="0">
                <a:solidFill>
                  <a:srgbClr val="FBBF24"/>
                </a:solidFill>
                <a:latin typeface="Prompt"/>
              </a:rPr>
              <a:t>▸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ความคิดเห็นนับล้าน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ถูกเขียนขึ้นทุกวันบนแพลตฟอร์มออนไลน์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—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ธุรกิจต้องรู้ว่าลูกค้า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"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รู้สึก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"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อย่างไรกับสินค้าและบริการ</a:t>
            </a:r>
            <a:endParaRPr sz="1600" b="0" i="0" dirty="0">
              <a:solidFill>
                <a:srgbClr val="D6D3D1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1000"/>
              </a:spcBef>
              <a:spcAft>
                <a:spcPts val="1000"/>
              </a:spcAft>
            </a:pPr>
            <a:r>
              <a:rPr sz="1600" b="1" i="0" dirty="0">
                <a:solidFill>
                  <a:srgbClr val="FBBF24"/>
                </a:solidFill>
                <a:latin typeface="Prompt"/>
              </a:rPr>
              <a:t>▸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โมเดลคลาสสิกอย่าง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 LSTM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เคยเป็นมาตรฐานของงานประมวลผลภาษา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แต่มีข้อจำกัดเชิงโครงสร้างที่แก้ได้ยาก</a:t>
            </a:r>
            <a:endParaRPr sz="1600" b="0" i="0" dirty="0">
              <a:solidFill>
                <a:srgbClr val="D6D3D1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1000"/>
              </a:spcBef>
              <a:spcAft>
                <a:spcPts val="1000"/>
              </a:spcAft>
            </a:pPr>
            <a:r>
              <a:rPr sz="1600" b="1" i="0" dirty="0">
                <a:solidFill>
                  <a:srgbClr val="FBBF24"/>
                </a:solidFill>
                <a:latin typeface="Prompt"/>
              </a:rPr>
              <a:t>▸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Transformer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และ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 BERT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เปลี่ยนกระบวนทัศน์ด้วยกลไก</a:t>
            </a:r>
            <a:r>
              <a:rPr sz="1600" b="0" i="0" dirty="0">
                <a:solidFill>
                  <a:srgbClr val="D6D3D1"/>
                </a:solidFill>
                <a:latin typeface="Prompt"/>
              </a:rPr>
              <a:t> self-attention — </a:t>
            </a:r>
            <a:r>
              <a:rPr sz="1600" b="0" i="0" dirty="0" err="1">
                <a:solidFill>
                  <a:srgbClr val="D6D3D1"/>
                </a:solidFill>
                <a:latin typeface="Prompt"/>
              </a:rPr>
              <a:t>งานวิจัยนี้พิสูจน์ด้วยตัวเลขจริงว่าต่างกันแค่ไหน</a:t>
            </a:r>
            <a:endParaRPr sz="1600" b="0" i="0" dirty="0">
              <a:solidFill>
                <a:srgbClr val="D6D3D1"/>
              </a:solidFill>
              <a:latin typeface="Prompt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680960" y="1828800"/>
            <a:ext cx="3959352" cy="356616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01000" y="2057400"/>
            <a:ext cx="3337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FBBF24"/>
                </a:solidFill>
                <a:latin typeface="Prompt"/>
              </a:rPr>
              <a:t>คำถามงานวิจัย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D6D3D1"/>
                </a:solidFill>
                <a:latin typeface="Prompt"/>
              </a:rPr>
              <a:t>เมื่อให้ LSTM และ BERT ที่ผ่านการ fine-tune
ทำโจทย์เดียวกัน — จำแนกความรู้สึกของรีวิว
ภาพยนตร์ IMDb — ฝ่ายใดแม่นยำกว่า
และต้องแลกมาด้วยต้นทุนเท่าไร?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440680"/>
            <a:ext cx="11094415" cy="566928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554098"/>
            <a:ext cx="10515600" cy="34009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 dirty="0" err="1">
                <a:solidFill>
                  <a:srgbClr val="D6D3D1"/>
                </a:solidFill>
                <a:latin typeface="Prompt"/>
              </a:rPr>
              <a:t>ขอบเขต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: 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จำแนกแบบทวิภาค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 (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บวก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/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ลบ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)  ·  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ชุดข้อมูลสมดุล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  ·  </a:t>
            </a:r>
            <a:r>
              <a:rPr sz="1400" b="0" i="0" dirty="0" err="1">
                <a:solidFill>
                  <a:srgbClr val="D6D3D1"/>
                </a:solidFill>
                <a:latin typeface="Prompt"/>
              </a:rPr>
              <a:t>วัดผลด้วย</a:t>
            </a:r>
            <a:r>
              <a:rPr sz="1400" b="0" i="0" dirty="0">
                <a:solidFill>
                  <a:srgbClr val="D6D3D1"/>
                </a:solidFill>
                <a:latin typeface="Prompt"/>
              </a:rPr>
              <a:t> Accuracy, Precision, Recall, F1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1383" y="6175808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ทวิภาค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 (binary)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แบ่ง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2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กลุ่ม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บวก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/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ลบ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IMDb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ชุดข้อมูลรีวิวภาพยนตร์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59E0B"/>
                </a:solidFill>
                <a:latin typeface="JetBrains Mono"/>
              </a:rPr>
              <a:t>02  ·  </a:t>
            </a:r>
            <a:r>
              <a:rPr sz="3000" b="1" i="0" dirty="0">
                <a:solidFill>
                  <a:srgbClr val="FAFAF9"/>
                </a:solidFill>
                <a:latin typeface="Prompt"/>
              </a:rPr>
              <a:t>LSTM: </a:t>
            </a:r>
            <a:r>
              <a:rPr sz="3000" b="1" i="0" dirty="0" err="1">
                <a:solidFill>
                  <a:srgbClr val="FAFAF9"/>
                </a:solidFill>
                <a:latin typeface="Prompt"/>
              </a:rPr>
              <a:t>หน่วยความจำแบบวนซ้ำ</a:t>
            </a:r>
            <a:endParaRPr sz="30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 dirty="0">
                <a:solidFill>
                  <a:srgbClr val="A8A29E"/>
                </a:solidFill>
                <a:latin typeface="Prompt"/>
              </a:rPr>
              <a:t>Long Short-Term Memory — the recurrent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D6D3D1"/>
                </a:solidFill>
                <a:latin typeface="Prompt"/>
              </a:rPr>
              <a:t>อ่านประโยคทีละคำจากซ้ายไปขวา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697480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1460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did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697480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697480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like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697480"/>
            <a:ext cx="594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2377440"/>
            <a:ext cx="1371600" cy="960120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1371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AFAF9"/>
                </a:solidFill>
                <a:latin typeface="JetBrains Mono"/>
              </a:rPr>
              <a:t>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5760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3907496"/>
            <a:ext cx="105156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th-TH" sz="1500" dirty="0">
                <a:solidFill>
                  <a:schemeClr val="bg1"/>
                </a:solidFill>
              </a:rPr>
              <a:t>LSTM อ่านทีละคำ ส่งต่อความจำทีละขั้น — ประโยคยิ่งยาว ข้อมูลจากต้นประโยคยิ่งสูญหายไประหว่างทาง</a:t>
            </a:r>
            <a:endParaRPr sz="1500" b="0" i="0" dirty="0">
              <a:solidFill>
                <a:schemeClr val="bg1"/>
              </a:solidFill>
              <a:latin typeface="Promp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4663440"/>
            <a:ext cx="110944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7185"/>
                </a:solidFill>
                <a:latin typeface="Prompt"/>
              </a:rPr>
              <a:t>จุดอ่อนเชิงโครงสร้าง</a:t>
            </a:r>
            <a:endParaRPr sz="1600" b="1" i="0" dirty="0">
              <a:solidFill>
                <a:srgbClr val="FB7185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450" b="0" i="0" dirty="0">
                <a:solidFill>
                  <a:srgbClr val="D6D3D1"/>
                </a:solidFill>
                <a:latin typeface="Prompt"/>
              </a:rPr>
              <a:t>▸ 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ประมวลผลแบบลำดับขั้น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—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ขนานไม่ได้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ช้าบนข้อมูลยาว</a:t>
            </a:r>
            <a:endParaRPr sz="1450" b="0" i="0" dirty="0">
              <a:solidFill>
                <a:srgbClr val="D6D3D1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450" b="0" i="0" dirty="0">
                <a:solidFill>
                  <a:srgbClr val="D6D3D1"/>
                </a:solidFill>
                <a:latin typeface="Prompt"/>
              </a:rPr>
              <a:t>▸ 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ความจำระยะยาวเสื่อม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—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บริบทไกล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ๆ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หลุดหาย</a:t>
            </a:r>
            <a:endParaRPr sz="1450" b="0" i="0" dirty="0">
              <a:solidFill>
                <a:srgbClr val="D6D3D1"/>
              </a:solidFill>
              <a:latin typeface="Prompt"/>
            </a:endParaRP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200"/>
              </a:spcAft>
            </a:pPr>
            <a:r>
              <a:rPr sz="1450" b="0" i="0" dirty="0">
                <a:solidFill>
                  <a:srgbClr val="D6D3D1"/>
                </a:solidFill>
                <a:latin typeface="Prompt"/>
              </a:rPr>
              <a:t>▸ 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มองเห็นแค่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 "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อดีต</a:t>
            </a:r>
            <a:r>
              <a:rPr sz="1450" b="0" i="0" dirty="0">
                <a:solidFill>
                  <a:srgbClr val="D6D3D1"/>
                </a:solidFill>
                <a:latin typeface="Prompt"/>
              </a:rPr>
              <a:t>" — </a:t>
            </a:r>
            <a:r>
              <a:rPr sz="1450" b="0" i="0" dirty="0" err="1">
                <a:solidFill>
                  <a:srgbClr val="D6D3D1"/>
                </a:solidFill>
                <a:latin typeface="Prompt"/>
              </a:rPr>
              <a:t>ไม่รู้บริบทด้านขวาของคำ</a:t>
            </a:r>
            <a:endParaRPr sz="1450" b="0" i="0" dirty="0">
              <a:solidFill>
                <a:srgbClr val="D6D3D1"/>
              </a:solidFill>
              <a:latin typeface="Prompt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51383" y="6097742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hidden state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สถานะความจำภายในโมเดล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vanishing gradient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เกรเดียนต์จางหายระหว่างฝึก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03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Transformer: มองเห็นทั้งประโยคพร้อมกัน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Self-attention — the paradigm shift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13716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22960" y="2185439"/>
                <a:ext cx="10515600" cy="65832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ctr">
                  <a:lnSpc>
                    <a:spcPct val="115000"/>
                  </a:lnSpc>
                  <a:spcBef>
                    <a:spcPts val="0"/>
                  </a:spcBef>
                  <a:spcAft>
                    <a:spcPts val="600"/>
                  </a:spcAft>
                </a:pPr>
                <a:r>
                  <a:rPr sz="2200" b="1" i="0" dirty="0">
                    <a:solidFill>
                      <a:srgbClr val="FAFAF9"/>
                    </a:solidFill>
                    <a:latin typeface="JetBrains Mono"/>
                  </a:rPr>
                  <a:t>Attention</a:t>
                </a:r>
                <a:r>
                  <a:rPr sz="2200" b="0" i="0" dirty="0">
                    <a:solidFill>
                      <a:srgbClr val="D6D3D1"/>
                    </a:solidFill>
                    <a:latin typeface="JetBrains Mono"/>
                  </a:rPr>
                  <a:t>(Q, K, V)  =  </a:t>
                </a:r>
                <a:r>
                  <a:rPr sz="2200" b="1" i="0" dirty="0" err="1">
                    <a:solidFill>
                      <a:srgbClr val="FBBF24"/>
                    </a:solidFill>
                    <a:latin typeface="JetBrains Mono"/>
                  </a:rPr>
                  <a:t>softmax</a:t>
                </a:r>
                <a14:m>
                  <m:oMath xmlns:m="http://schemas.openxmlformats.org/officeDocument/2006/math">
                    <m:r>
                      <a:rPr lang="th-TH" sz="2200" b="0" i="1" dirty="0" smtClean="0">
                        <a:solidFill>
                          <a:srgbClr val="D6D3D1"/>
                        </a:solidFill>
                        <a:latin typeface="Cambria Math" panose="02040503050406030204" pitchFamily="18" charset="0"/>
                      </a:rPr>
                      <m:t>(</m:t>
                    </m:r>
                    <m:f>
                      <m:fPr>
                        <m:ctrlPr>
                          <a:rPr lang="th-TH" sz="22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th-TH" sz="22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  <m:t>𝑄𝐾</m:t>
                        </m:r>
                        <m:r>
                          <a:rPr lang="th-TH" sz="15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num>
                      <m:den>
                        <m:r>
                          <a:rPr lang="th-TH" sz="22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  <m:t>√</m:t>
                        </m:r>
                        <m:r>
                          <a:rPr lang="th-TH" sz="2200" i="1" dirty="0">
                            <a:solidFill>
                              <a:srgbClr val="D6D3D1"/>
                            </a:solidFill>
                            <a:latin typeface="Cambria Math" panose="02040503050406030204" pitchFamily="18" charset="0"/>
                          </a:rPr>
                          <m:t>𝑑𝑘</m:t>
                        </m:r>
                      </m:den>
                    </m:f>
                    <m:r>
                      <a:rPr lang="th-TH" sz="2200" b="0" i="1" dirty="0">
                        <a:solidFill>
                          <a:srgbClr val="D6D3D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th-TH" sz="2200" b="1" i="1" dirty="0">
                        <a:solidFill>
                          <a:srgbClr val="FAFAF9"/>
                        </a:solidFill>
                        <a:latin typeface="Cambria Math" panose="02040503050406030204" pitchFamily="18" charset="0"/>
                      </a:rPr>
                      <m:t>𝑽</m:t>
                    </m:r>
                  </m:oMath>
                </a14:m>
                <a:endParaRPr sz="2200" b="1" i="0" dirty="0">
                  <a:solidFill>
                    <a:srgbClr val="FAFAF9"/>
                  </a:solidFill>
                  <a:latin typeface="JetBrains Mono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2185439"/>
                <a:ext cx="10515600" cy="658322"/>
              </a:xfrm>
              <a:prstGeom prst="rect">
                <a:avLst/>
              </a:prstGeom>
              <a:blipFill>
                <a:blip r:embed="rId2"/>
                <a:stretch>
                  <a:fillRect b="-7477"/>
                </a:stretch>
              </a:blipFill>
            </p:spPr>
            <p:txBody>
              <a:bodyPr/>
              <a:lstStyle/>
              <a:p>
                <a:r>
                  <a:rPr lang="th-T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548640" y="3337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เมื่อคำนวณกับทุกโทเค็นในลำดับ โมเดลจะรู้ว่าคำไหนควร “สนใจ” คำไหน — ไม่ว่าจะอยู่ห่างกันแค่ไหน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0233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" y="420624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BBF24"/>
                </a:solidFill>
                <a:latin typeface="Prompt"/>
              </a:rPr>
              <a:t>ไม่ต้องวนซ้ำ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ประมวลผลทุกตำแหน่งพร้อมกัน
ขนานได้เต็มที่บน GPU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0233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63440" y="420624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34D399"/>
                </a:solidFill>
                <a:latin typeface="Prompt"/>
              </a:rPr>
              <a:t>บริบทสองทิศทาง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แต่ละคำมองเห็นทั้งประโยค
ซ้ายและขวาในครั้งเดียว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02336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03920" y="4206240"/>
            <a:ext cx="301752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BBF24"/>
                </a:solidFill>
                <a:latin typeface="Prompt"/>
              </a:rPr>
              <a:t>ความสัมพันธ์ระยะไกล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คำที่ห่างกันหลายสิบคำ
ยังเชื่อมโยงกันโดยตรง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440680"/>
            <a:ext cx="11094415" cy="566928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567680"/>
            <a:ext cx="10515600" cy="312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ยกเลิกโครงสร้างวนซ้ำทั้งหมด  →  เหลือเพียง attention ล้วน ๆ — นี่คือหัวใจของ BERT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34608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self-attention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กลไกให้น้ำหนักความสำคัญระหว่างคำ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Q / K / V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สามเวกเตอร์คำถาม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–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คีย์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–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ค่า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04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BERT และการทำ Fine-tuning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Pre-train once, adapt to the task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 dirty="0">
                <a:solidFill>
                  <a:srgbClr val="FBBF24"/>
                </a:solidFill>
                <a:latin typeface="JetBrains Mono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AFAF9"/>
                </a:solidFill>
                <a:latin typeface="Prompt"/>
              </a:rPr>
              <a:t>ข้อความดิบ</a:t>
            </a:r>
            <a:endParaRPr sz="16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 dirty="0" err="1">
                <a:solidFill>
                  <a:srgbClr val="D6D3D1"/>
                </a:solidFill>
                <a:latin typeface="Prompt"/>
              </a:rPr>
              <a:t>รีวิว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 IMDb
2,000 </a:t>
            </a:r>
            <a:r>
              <a:rPr sz="1350" b="0" i="0" dirty="0" err="1">
                <a:solidFill>
                  <a:srgbClr val="D6D3D1"/>
                </a:solidFill>
                <a:latin typeface="Prompt"/>
              </a:rPr>
              <a:t>ตัวอย่าง</a:t>
            </a:r>
            <a:endParaRPr sz="1350" b="0" i="0" dirty="0">
              <a:solidFill>
                <a:srgbClr val="D6D3D1"/>
              </a:solidFill>
              <a:latin typeface="Promp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651760" y="2834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08960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 dirty="0">
                <a:solidFill>
                  <a:srgbClr val="34D399"/>
                </a:solidFill>
                <a:latin typeface="JetBrains Mono"/>
              </a:rPr>
              <a:t>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AFAF9"/>
                </a:solidFill>
                <a:latin typeface="Prompt"/>
              </a:rPr>
              <a:t>WordPiece</a:t>
            </a:r>
            <a:endParaRPr sz="16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 dirty="0" err="1">
                <a:solidFill>
                  <a:srgbClr val="D6D3D1"/>
                </a:solidFill>
                <a:latin typeface="Prompt"/>
              </a:rPr>
              <a:t>แตกเป็นหน่วยย่อย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
vocab 30,522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79" y="2834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79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40679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JetBrains Mono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AFAF9"/>
                </a:solidFill>
                <a:latin typeface="Prompt"/>
              </a:rPr>
              <a:t>[CLS] + [SEP]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เติมโทเค็นพิเศษ
หัว–ท้ายประโยค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9" y="2834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0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 dirty="0">
                <a:solidFill>
                  <a:srgbClr val="34D399"/>
                </a:solidFill>
                <a:latin typeface="JetBrains Mono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>
                <a:solidFill>
                  <a:srgbClr val="FAFAF9"/>
                </a:solidFill>
                <a:latin typeface="Prompt"/>
              </a:rPr>
              <a:t>BERT 12 </a:t>
            </a:r>
            <a:r>
              <a:rPr sz="1600" b="1" i="0" dirty="0" err="1">
                <a:solidFill>
                  <a:srgbClr val="FAFAF9"/>
                </a:solidFill>
                <a:latin typeface="Prompt"/>
              </a:rPr>
              <a:t>ชั้น</a:t>
            </a:r>
            <a:endParaRPr sz="1600" b="1" i="0" dirty="0">
              <a:solidFill>
                <a:srgbClr val="FAFAF9"/>
              </a:solidFill>
              <a:latin typeface="Prompt"/>
            </a:endParaRP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 dirty="0" err="1">
                <a:solidFill>
                  <a:srgbClr val="D6D3D1"/>
                </a:solidFill>
                <a:latin typeface="Prompt"/>
              </a:rPr>
              <a:t>สกัดเวกเตอร์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 768 </a:t>
            </a:r>
            <a:r>
              <a:rPr sz="1350" b="0" i="0" dirty="0" err="1">
                <a:solidFill>
                  <a:srgbClr val="D6D3D1"/>
                </a:solidFill>
                <a:latin typeface="Prompt"/>
              </a:rPr>
              <a:t>มิติ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
</a:t>
            </a:r>
            <a:r>
              <a:rPr sz="1350" b="0" i="0" dirty="0" err="1">
                <a:solidFill>
                  <a:srgbClr val="D6D3D1"/>
                </a:solidFill>
                <a:latin typeface="Prompt"/>
              </a:rPr>
              <a:t>จาก</a:t>
            </a:r>
            <a:r>
              <a:rPr sz="1350" b="0" i="0" dirty="0">
                <a:solidFill>
                  <a:srgbClr val="D6D3D1"/>
                </a:solidFill>
                <a:latin typeface="Prompt"/>
              </a:rPr>
              <a:t> [CLS]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2834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19" y="1920240"/>
            <a:ext cx="2103120" cy="22860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104119" y="2103120"/>
            <a:ext cx="16916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JetBrains Mono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AFAF9"/>
                </a:solidFill>
                <a:latin typeface="Prompt"/>
              </a:rPr>
              <a:t>Classification Head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ชั้นเชิงเส้น + softmax
→ บวก / ลบ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26280"/>
            <a:ext cx="11094415" cy="105156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10515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Prompt"/>
              </a:rPr>
              <a:t>Pre-train </a:t>
            </a:r>
            <a:r>
              <a:rPr sz="1500" b="0" i="0">
                <a:solidFill>
                  <a:srgbClr val="D6D3D1"/>
                </a:solidFill>
                <a:latin typeface="Prompt"/>
              </a:rPr>
              <a:t>บนข้อความมหาศาลมาก่อน  →  </a:t>
            </a:r>
            <a:r>
              <a:rPr sz="1500" b="1" i="0">
                <a:solidFill>
                  <a:srgbClr val="FBBF24"/>
                </a:solidFill>
                <a:latin typeface="Prompt"/>
              </a:rPr>
              <a:t>Fine-tune </a:t>
            </a:r>
            <a:r>
              <a:rPr sz="1500" b="0" i="0">
                <a:solidFill>
                  <a:srgbClr val="D6D3D1"/>
                </a:solidFill>
                <a:latin typeface="Prompt"/>
              </a:rPr>
              <a:t>เพียง 3 รอบบน IMDb ก็พร้อมใช้งาน — ไม่ต้องฝึกตั้งแต่ศูนย์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1383" y="5856440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[CLS]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โทเค็นพิเศษแทนความหมายทั้งประโยค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fine-tuning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ฝึกต่อยอดจากโมเดลสำเร็จรูป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 dirty="0">
                <a:solidFill>
                  <a:srgbClr val="78716C"/>
                </a:solidFill>
                <a:latin typeface="JetBrains Mono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05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กระบวนการทดลอง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Experimental pipeline — same data, same task, fair test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468880" cy="21031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2057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ข้อมูล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IMDb Reviews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2,000 ฝึก / 500 ทดสอบ
สมดุลบวก–ลบ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88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11680"/>
            <a:ext cx="2468880" cy="21031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03320" y="2240280"/>
            <a:ext cx="2057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เตรียมข้อมูล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Preprocess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ตัด/เติมให้ยาว 128
โทเค็น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88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11680"/>
            <a:ext cx="2468880" cy="21031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2240280"/>
            <a:ext cx="2057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ฝึกสอน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Train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LSTM 5 รอบ · BERT 3 รอบ
batch 32 / 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2880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59E0B"/>
                </a:solidFill>
                <a:latin typeface="Prompt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2011680"/>
            <a:ext cx="2468880" cy="21031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55480" y="2240280"/>
            <a:ext cx="2057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ประเมินผล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Evaluate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Accuracy · Precision
Recall ·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1109441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AFAF9"/>
                </a:solidFill>
                <a:latin typeface="Prompt"/>
              </a:rPr>
              <a:t>ควบคุมตัวแปรรบกวน: </a:t>
            </a:r>
            <a:r>
              <a:rPr sz="1500" b="0" i="0">
                <a:solidFill>
                  <a:srgbClr val="D6D3D1"/>
                </a:solidFill>
                <a:latin typeface="Prompt"/>
              </a:rPr>
              <a:t>ข้อมูลชุดเดียวกัน แบ่งด้วย seed 42 ความยาวสูงสุด 128 โทเค็น — สิ่งที่ต่างมีเพียง "สถาปัตยกรรมโมเดล"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213860"/>
            <a:ext cx="11094415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1" dirty="0" err="1">
                <a:solidFill>
                  <a:srgbClr val="A8A29E"/>
                </a:solidFill>
                <a:latin typeface="Prompt"/>
              </a:rPr>
              <a:t>ภาพรวมการทดลอง</a:t>
            </a:r>
            <a:r>
              <a:rPr sz="2000" b="0" i="1" dirty="0">
                <a:solidFill>
                  <a:srgbClr val="A8A29E"/>
                </a:solidFill>
                <a:latin typeface="Prompt"/>
              </a:rPr>
              <a:t>: </a:t>
            </a:r>
            <a:r>
              <a:rPr sz="2000" b="0" i="1" dirty="0" err="1">
                <a:solidFill>
                  <a:srgbClr val="A8A29E"/>
                </a:solidFill>
                <a:latin typeface="Prompt"/>
              </a:rPr>
              <a:t>ข้อมูล</a:t>
            </a:r>
            <a:r>
              <a:rPr sz="2000" b="0" i="1" dirty="0">
                <a:solidFill>
                  <a:srgbClr val="A8A29E"/>
                </a:solidFill>
                <a:latin typeface="Prompt"/>
              </a:rPr>
              <a:t> → </a:t>
            </a:r>
            <a:r>
              <a:rPr sz="2000" b="0" i="1" dirty="0" err="1">
                <a:solidFill>
                  <a:srgbClr val="A8A29E"/>
                </a:solidFill>
                <a:latin typeface="Prompt"/>
              </a:rPr>
              <a:t>ฝึกสอน</a:t>
            </a:r>
            <a:r>
              <a:rPr sz="2000" b="0" i="1" dirty="0">
                <a:solidFill>
                  <a:srgbClr val="A8A29E"/>
                </a:solidFill>
                <a:latin typeface="Prompt"/>
              </a:rPr>
              <a:t> → </a:t>
            </a:r>
            <a:r>
              <a:rPr sz="2000" b="0" i="1" dirty="0" err="1">
                <a:solidFill>
                  <a:srgbClr val="A8A29E"/>
                </a:solidFill>
                <a:latin typeface="Prompt"/>
              </a:rPr>
              <a:t>ประเมินผล</a:t>
            </a:r>
            <a:endParaRPr sz="2000" b="0" i="1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14884" y="5881840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seed 42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ค่าคงที่ให้การสุ่มซ้ำได้เหมือนเดิม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batch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กลุ่มข้อมูลที่ฝึกพร้อมกันในหนึ่งขั้น</a:t>
            </a:r>
            <a:endParaRPr sz="1600" b="0" i="0" dirty="0">
              <a:solidFill>
                <a:srgbClr val="A8A29E"/>
              </a:solidFill>
              <a:latin typeface="Prompt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06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การตั้งค่าการทดลอง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Hyperparameters — every knob on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86563"/>
              </p:ext>
            </p:extLst>
          </p:nvPr>
        </p:nvGraphicFramePr>
        <p:xfrm>
          <a:off x="548640" y="1783080"/>
          <a:ext cx="6675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พารามิเตอร์</a:t>
                      </a:r>
                      <a:endParaRPr sz="1400" b="1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LSTM</a:t>
                      </a:r>
                      <a:endParaRPr sz="1400" b="1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</a:rPr>
                        <a:t>BERT (bert-base-uncased)</a:t>
                      </a:r>
                      <a:endParaRPr sz="1400" b="1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Embedding dim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128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768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Hidden size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128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768 ([CLS])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จำนวนรอบฝึก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5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3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Batch size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32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16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Learning rate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1 × 10⁻³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2 × 10⁻⁵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Optimizer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Adam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AdamW + weight decay 0.01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Dropout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—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0.10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พารามิเตอร์รวม</a:t>
                      </a:r>
                      <a:endParaRPr sz="1300" b="0" i="0">
                        <a:solidFill>
                          <a:srgbClr val="000000"/>
                        </a:solidFill>
                        <a:latin typeface="Prompt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000000"/>
                          </a:solidFill>
                        </a:rPr>
                        <a:t>~4.04 ล้าน</a:t>
                      </a:r>
                      <a:endParaRPr sz="1300" b="0" i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 dirty="0">
                          <a:solidFill>
                            <a:srgbClr val="000000"/>
                          </a:solidFill>
                        </a:rPr>
                        <a:t>~110 </a:t>
                      </a:r>
                      <a:r>
                        <a:rPr sz="1300" b="0" dirty="0" err="1">
                          <a:solidFill>
                            <a:srgbClr val="000000"/>
                          </a:solidFill>
                        </a:rPr>
                        <a:t>ล้าน</a:t>
                      </a:r>
                      <a:endParaRPr sz="1300" b="0" i="0" dirty="0">
                        <a:solidFill>
                          <a:srgbClr val="000000"/>
                        </a:solidFill>
                        <a:latin typeface="JetBrains Mono"/>
                      </a:endParaRPr>
                    </a:p>
                  </a:txBody>
                  <a:tcPr marL="109728" marR="73152" marT="18288" marB="18288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498079" y="1783080"/>
            <a:ext cx="4142232" cy="14173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0" y="1920240"/>
            <a:ext cx="3611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Prompt"/>
              </a:rPr>
              <a:t>ข้อมูล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AFAF9"/>
                </a:solidFill>
                <a:latin typeface="JetBrains Mono"/>
              </a:rPr>
              <a:t>2,000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ฝึก  ·  </a:t>
            </a:r>
            <a:r>
              <a:rPr sz="1500" b="1" i="0">
                <a:solidFill>
                  <a:srgbClr val="FAFAF9"/>
                </a:solidFill>
                <a:latin typeface="JetBrains Mono"/>
              </a:rPr>
              <a:t>500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ทดสอบ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3383280"/>
            <a:ext cx="4142232" cy="14173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0" y="3520440"/>
            <a:ext cx="36118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Prompt"/>
              </a:rPr>
              <a:t>สภาพแวดล้อม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Google Colab  ·  NVIDIA T4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JetBrains Mono"/>
              </a:rPr>
              <a:t>PyTorch + Hugging 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1383" y="6061889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learning rate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ขนาดก้าวในการปรับน้ำหนัก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weight decay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ลงโทษน้ำหนักมาก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ป้องกัน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overfit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07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ผลการทดลอง: ตัวเลขไม่โกหก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Head-to-head results on the 500-sample test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ar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375565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863840" y="1627632"/>
            <a:ext cx="3776472" cy="1243584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38160" y="1737360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A8A29E"/>
                </a:solidFill>
                <a:latin typeface="Prompt"/>
              </a:rPr>
              <a:t>ความแม่นยำ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BERT  </a:t>
            </a:r>
            <a:r>
              <a:rPr sz="3000" b="1" i="0">
                <a:solidFill>
                  <a:srgbClr val="FAFAF9"/>
                </a:solidFill>
                <a:latin typeface="JetBrains Mono"/>
              </a:rPr>
              <a:t>85.60%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6D3D1"/>
                </a:solidFill>
                <a:latin typeface="JetBrains Mono"/>
              </a:rPr>
              <a:t>LSTM 55.20%  →  Δ +30.40 จุด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3017520"/>
            <a:ext cx="3776472" cy="1243584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38160" y="3127248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A8A29E"/>
                </a:solidFill>
                <a:latin typeface="Prompt"/>
              </a:rPr>
              <a:t>ความเที่ยง Precision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BERT  </a:t>
            </a:r>
            <a:r>
              <a:rPr sz="3000" b="1" i="0">
                <a:solidFill>
                  <a:srgbClr val="FAFAF9"/>
                </a:solidFill>
                <a:latin typeface="JetBrains Mono"/>
              </a:rPr>
              <a:t>83.72%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6D3D1"/>
                </a:solidFill>
                <a:latin typeface="JetBrains Mono"/>
              </a:rPr>
              <a:t>LSTM 54.44%  →  Δ +29.28 จุด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4407408"/>
            <a:ext cx="3776472" cy="1243584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38160" y="4517136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A8A29E"/>
                </a:solidFill>
                <a:latin typeface="Prompt"/>
              </a:rPr>
              <a:t>ความระลึก Recall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BBF24"/>
                </a:solidFill>
                <a:latin typeface="Prompt"/>
              </a:rPr>
              <a:t>BERT  </a:t>
            </a:r>
            <a:r>
              <a:rPr sz="3000" b="1" i="0">
                <a:solidFill>
                  <a:srgbClr val="FAFAF9"/>
                </a:solidFill>
                <a:latin typeface="JetBrains Mono"/>
              </a:rPr>
              <a:t>87.80%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D6D3D1"/>
                </a:solidFill>
                <a:latin typeface="JetBrains Mono"/>
              </a:rPr>
              <a:t>LSTM 54.88%  →  Δ +32.92 จุด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05856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A8A29E"/>
                </a:solidFill>
                <a:latin typeface="Prompt"/>
              </a:rPr>
              <a:t>เมทริกทั้งหมดคำนวณบนชุดทดสอบ 500 ตัวอย่าง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72124"/>
            <a:ext cx="11091672" cy="3754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 dirty="0" err="1">
                <a:solidFill>
                  <a:srgbClr val="FBBF24"/>
                </a:solidFill>
                <a:latin typeface="Prompt"/>
              </a:rPr>
              <a:t>ศัพท์น่ารู้</a:t>
            </a:r>
            <a:r>
              <a:rPr sz="1600" b="1" i="0" dirty="0">
                <a:solidFill>
                  <a:srgbClr val="FBBF24"/>
                </a:solidFill>
                <a:latin typeface="Prompt"/>
              </a:rPr>
              <a:t>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precision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ทายบวกแล้วถูกกี่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%   ·   </a:t>
            </a:r>
            <a:r>
              <a:rPr sz="1600" b="1" i="0" dirty="0">
                <a:solidFill>
                  <a:srgbClr val="FAFAF9"/>
                </a:solidFill>
                <a:latin typeface="Prompt"/>
              </a:rPr>
              <a:t>recall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=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ของบวกจริง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</a:t>
            </a:r>
            <a:r>
              <a:rPr sz="1600" b="0" i="0" dirty="0" err="1">
                <a:solidFill>
                  <a:srgbClr val="A8A29E"/>
                </a:solidFill>
                <a:latin typeface="Prompt"/>
              </a:rPr>
              <a:t>จับได้กี่</a:t>
            </a:r>
            <a:r>
              <a:rPr sz="1600" b="0" i="0" dirty="0">
                <a:solidFill>
                  <a:srgbClr val="A8A29E"/>
                </a:solidFill>
                <a:latin typeface="Prompt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08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เส้นทางการเรียนรู้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Training loss: first vs final epoch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art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5394960" cy="278643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63640" y="1783080"/>
            <a:ext cx="5376672" cy="1874519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88900" cy="1874519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29400" y="1947672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AFAF9"/>
                </a:solidFill>
                <a:latin typeface="JetBrains Mono"/>
              </a:rPr>
              <a:t>LSTM: 0.6976 → 0.3234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ลด </a:t>
            </a:r>
            <a:r>
              <a:rPr sz="1400" b="1" i="0">
                <a:solidFill>
                  <a:srgbClr val="FAFAF9"/>
                </a:solidFill>
                <a:latin typeface="JetBrains Mono"/>
              </a:rPr>
              <a:t>53.6%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loss ลดลงต่อเนื่อง แต่ค้างที่ระดับสูง — โมเดลเรียนรู้ได้จำกัด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794760"/>
            <a:ext cx="5376672" cy="1874519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263640" y="3794760"/>
            <a:ext cx="88900" cy="1874519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3959352"/>
            <a:ext cx="4754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AFAF9"/>
                </a:solidFill>
                <a:latin typeface="JetBrains Mono"/>
              </a:rPr>
              <a:t>BERT: 0.4826 → 0.1369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ลด </a:t>
            </a:r>
            <a:r>
              <a:rPr sz="1400" b="1" i="0">
                <a:solidFill>
                  <a:srgbClr val="FAFAF9"/>
                </a:solidFill>
                <a:latin typeface="JetBrains Mono"/>
              </a:rPr>
              <a:t>71.6%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D6D3D1"/>
                </a:solidFill>
                <a:latin typeface="Prompt"/>
              </a:rPr>
              <a:t>เริ่มต่ำกว่าและลงลึกกว่า — ความรู้จาก pre-training ต่อยอดได้ทันที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A8A29E"/>
                </a:solidFill>
                <a:latin typeface="Prompt"/>
              </a:rPr>
              <a:t>เปรียบเทียบเฉพาะค่ารอบแรกและรอบสุดท้ายที่รายงานไว้จริง ไม่มีการประมาณค่ากลาง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Prompt"/>
              </a:rPr>
              <a:t>ศัพท์น่ารู้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loss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ค่าความผิดพลาด ยิ่งต่ำยิ่งดี   · 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converge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ลู่เข้าสู่ค่าคงที่เมื่อฝึกนานพอ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09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เมื่อใดที่ LSTM พลาด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Error analysis — where recurrence breaks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5422392" cy="429768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74519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FAFAF9"/>
                </a:solidFill>
                <a:latin typeface="Prompt"/>
              </a:rPr>
              <a:t>ประโยคเชิงซ้อน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1200"/>
              </a:spcAft>
            </a:pPr>
            <a:r>
              <a:rPr sz="1450" b="0" i="1">
                <a:solidFill>
                  <a:srgbClr val="FBBF24"/>
                </a:solidFill>
                <a:latin typeface="Prompt"/>
              </a:rPr>
              <a:t>“The movie was not bad, but the ending
was barely watchable.”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B7185"/>
                </a:solidFill>
                <a:latin typeface="Prompt"/>
              </a:rPr>
              <a:t>▸ </a:t>
            </a:r>
            <a:r>
              <a:rPr sz="1400" b="1" i="0">
                <a:solidFill>
                  <a:srgbClr val="FAFAF9"/>
                </a:solidFill>
                <a:latin typeface="Prompt"/>
              </a:rPr>
              <a:t>LSTM: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อ่านซ้าย→ขวาทีละขั้น สับสนกับการปฏิเสธซ้อนและความกำกวม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4D399"/>
                </a:solidFill>
                <a:latin typeface="Prompt"/>
              </a:rPr>
              <a:t>▸ </a:t>
            </a:r>
            <a:r>
              <a:rPr sz="1400" b="1" i="0">
                <a:solidFill>
                  <a:srgbClr val="FAFAF9"/>
                </a:solidFill>
                <a:latin typeface="Prompt"/>
              </a:rPr>
              <a:t>BERT: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รับรู้บริบทสองทิศทางพร้อมกัน แยกแยะความหมายได้แม่นยำกว่า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91640"/>
            <a:ext cx="5422392" cy="429768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74519"/>
            <a:ext cx="4800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FAFAF9"/>
                </a:solidFill>
                <a:latin typeface="Prompt"/>
              </a:rPr>
              <a:t>คำปฏิเสธและคำกำกวม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395728"/>
            <a:ext cx="4800600" cy="566928"/>
          </a:xfrm>
          <a:prstGeom prst="roundRect">
            <a:avLst>
              <a:gd name="adj" fmla="val 6000"/>
            </a:avLst>
          </a:prstGeom>
          <a:solidFill>
            <a:srgbClr val="292523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395728"/>
            <a:ext cx="4800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BBF24"/>
                </a:solidFill>
                <a:latin typeface="JetBrains Mono"/>
              </a:rPr>
              <a:t>not  ·  barely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3108960"/>
            <a:ext cx="48006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FB7185"/>
                </a:solidFill>
                <a:latin typeface="Prompt"/>
              </a:rPr>
              <a:t>▸ </a:t>
            </a:r>
            <a:r>
              <a:rPr sz="1400" b="1" i="0">
                <a:solidFill>
                  <a:srgbClr val="FAFAF9"/>
                </a:solidFill>
                <a:latin typeface="Prompt"/>
              </a:rPr>
              <a:t>LSTM: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อ่านซ้าย→ขวาทีละขั้น สับสนกับการปฏิเสธซ้อนและความกำกวม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4D399"/>
                </a:solidFill>
                <a:latin typeface="Prompt"/>
              </a:rPr>
              <a:t>▸ </a:t>
            </a:r>
            <a:r>
              <a:rPr sz="1400" b="1" i="0">
                <a:solidFill>
                  <a:srgbClr val="FAFAF9"/>
                </a:solidFill>
                <a:latin typeface="Prompt"/>
              </a:rPr>
              <a:t>BERT: 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รับรู้บริบทสองทิศทางพร้อมกัน แยกแยะความหมายได้แม่นยำกว่า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Prompt"/>
              </a:rPr>
              <a:t>ศัพท์น่ารู้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การปฏิเสธซ้อน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คำปฏิเสธหลายชั้น   · 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บริบทสองทิศทาง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มองซ้าย–ขวาของคำพร้อมกัน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10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ความแม่นยำ vs ต้นทุน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The engineering trade-off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chart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669280" cy="24503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4348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A8A29E"/>
                </a:solidFill>
                <a:latin typeface="Prompt"/>
              </a:rPr>
              <a:t>LSTM 0.82 วินาที — แท่งเล็กจนแทบมองไม่เห็นเมื่อเทียบสเกลเดียวกับ BERT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737360"/>
            <a:ext cx="5148072" cy="14173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492240" y="1737360"/>
            <a:ext cx="88900" cy="1417320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0" y="1874519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AFAF9"/>
                </a:solidFill>
                <a:latin typeface="Prompt"/>
              </a:rPr>
              <a:t>ต้นทุนที่จ่าย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B7185"/>
                </a:solidFill>
                <a:latin typeface="JetBrains Mono"/>
              </a:rPr>
              <a:t>51×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 ช้ากว่า ต่อรอบการฝึก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D6D3D1"/>
                </a:solidFill>
                <a:latin typeface="JetBrains Mono"/>
              </a:rPr>
              <a:t>0.82 → 42.07 วินาที/รอบ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3566160"/>
            <a:ext cx="5148072" cy="14173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92240" y="3566160"/>
            <a:ext cx="88900" cy="141732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0" y="3703320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AFAF9"/>
                </a:solidFill>
                <a:latin typeface="Prompt"/>
              </a:rPr>
              <a:t>สิ่งที่ได้กลับมา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34D399"/>
                </a:solidFill>
                <a:latin typeface="JetBrains Mono"/>
              </a:rPr>
              <a:t>+30.40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 จุดความแม่นยำที่เพิ่มขึ้น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D6D3D1"/>
                </a:solidFill>
                <a:latin typeface="JetBrains Mono"/>
              </a:rPr>
              <a:t>55.20% → 85.60%  ·  F1 54.66% → 85.71%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320040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292523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BBF24"/>
                </a:solidFill>
                <a:latin typeface="Prompt"/>
              </a:rPr>
              <a:t>แลก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20640"/>
            <a:ext cx="11094415" cy="86868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" y="5247640"/>
            <a:ext cx="10515600" cy="614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FAFAF9"/>
                </a:solidFill>
                <a:latin typeface="Prompt"/>
              </a:rPr>
              <a:t>จ่ายเวลาประมวลผลเพิ่มขึ้น </a:t>
            </a:r>
            <a:r>
              <a:rPr sz="1600" b="1" i="0">
                <a:solidFill>
                  <a:srgbClr val="FB7185"/>
                </a:solidFill>
                <a:latin typeface="Prompt"/>
              </a:rPr>
              <a:t>~51 เท่า</a:t>
            </a:r>
            <a:r>
              <a:rPr sz="1600" b="0" i="0">
                <a:solidFill>
                  <a:srgbClr val="FAFAF9"/>
                </a:solidFill>
                <a:latin typeface="Prompt"/>
              </a:rPr>
              <a:t> แลกความแม่นยำที่ก้าวกระโดด </a:t>
            </a:r>
            <a:r>
              <a:rPr sz="1600" b="1" i="0">
                <a:solidFill>
                  <a:srgbClr val="FBBF24"/>
                </a:solidFill>
                <a:latin typeface="Prompt"/>
              </a:rPr>
              <a:t>+30.40 จุด</a:t>
            </a:r>
            <a:r>
              <a:rPr sz="1600" b="0" i="0">
                <a:solidFill>
                  <a:srgbClr val="FAFAF9"/>
                </a:solidFill>
                <a:latin typeface="Prompt"/>
              </a:rPr>
              <a:t> — คุ้มค่าเชิงวิศวกรรม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Prompt"/>
              </a:rPr>
              <a:t>ศัพท์น่ารู้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รอบการฝึก (epoch)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โมเดลเห็นข้อมูลฝึกครบ 1 ครั้ง   · 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F1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คะแนนรวม precision และ recall เข้าด้วยกัน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11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บทสรุป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What the numbers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88900" cy="9144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BERT ชนะขาดทุกเมทริก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ความแม่นยำ 85.60% เทียบกับ 55.20% — ต่างกัน 30.40 จุด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07791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2907791"/>
            <a:ext cx="88900" cy="9144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99923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ความรู้จาก pre-training คือตัวแปรสำคัญ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ไม่ต้องเริ่มนับหนึ่งใหม่บนงานเฉพาะทาง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86783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3986783"/>
            <a:ext cx="88900" cy="9144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078223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LSTM ไม่ไร้ค่า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เร็วกว่า ~51 เท่าต่อรอบ — ยังเหมาะกับงานที่ทรัพยากรจำกัด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65776"/>
            <a:ext cx="11094415" cy="91440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5065776"/>
            <a:ext cx="88900" cy="914400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5157216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AFAF9"/>
                </a:solidFill>
                <a:latin typeface="Prompt"/>
              </a:rPr>
              <a:t>ข้อจำกัดของงานวิจัย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D6D3D1"/>
                </a:solidFill>
                <a:latin typeface="Prompt"/>
              </a:rPr>
              <a:t>ชุดข้อมูล 2,000 ตัวอย่าง โดเมนเดียว — ผลอาจต่างบนโดเมนอื่น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Prompt"/>
              </a:rPr>
              <a:t>ศัพท์น่ารู้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pre-training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ฝึกพื้นฐานบนข้อมูลมหาศาลมาก่อน   · 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โดเมน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ขอบเขตหรือประเภทของข้อมูล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JetBrains Mono"/>
              </a:rPr>
              <a:t>12  ·  </a:t>
            </a:r>
            <a:r>
              <a:rPr sz="3000" b="1" i="0">
                <a:solidFill>
                  <a:srgbClr val="FAFAF9"/>
                </a:solidFill>
                <a:latin typeface="Prompt"/>
              </a:rPr>
              <a:t>เอกสารอ้างอิง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A8A29E"/>
                </a:solidFill>
                <a:latin typeface="Prompt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81328"/>
            <a:ext cx="128016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11094415" cy="4160520"/>
          </a:xfrm>
          <a:prstGeom prst="roundRect">
            <a:avLst>
              <a:gd name="adj" fmla="val 6000"/>
            </a:avLst>
          </a:prstGeom>
          <a:solidFill>
            <a:srgbClr val="1C1917"/>
          </a:solidFill>
          <a:ln w="13970">
            <a:solidFill>
              <a:srgbClr val="4440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1042416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Hochreiter, S., &amp; Schmidhuber, J. (1997).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Long short-term memory. Neural Computation, 9(8), 1735–1780.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Vaswani, A., et al. (2017).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Attention is all you need. Advances in Neural Information Processing Systems, 30.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Devlin, J., et al. (2019).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BERT: Pre-training of deep bidirectional transformers for language understanding. NAACL-HLT.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Maas, A. L., et al. (2011).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Learning word vectors for sentiment analysis. ACL-HLT.</a:t>
            </a:r>
          </a:p>
          <a:p>
            <a:pPr algn="l">
              <a:lnSpc>
                <a:spcPct val="130000"/>
              </a:lnSpc>
              <a:spcBef>
                <a:spcPts val="800"/>
              </a:spcBef>
              <a:spcAft>
                <a:spcPts val="500"/>
              </a:spcAft>
            </a:pPr>
            <a:r>
              <a:rPr sz="1400" b="1" i="0">
                <a:solidFill>
                  <a:srgbClr val="FAFAF9"/>
                </a:solidFill>
                <a:latin typeface="Prompt"/>
              </a:rPr>
              <a:t>Wolf, T., et al. (2020).</a:t>
            </a:r>
            <a:r>
              <a:rPr sz="1400" b="0" i="0">
                <a:solidFill>
                  <a:srgbClr val="D6D3D1"/>
                </a:solidFill>
                <a:latin typeface="Prompt"/>
              </a:rPr>
              <a:t> Transformers: State-of-the-art natural language processing. EMNLP (demo).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10916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FBBF24"/>
                </a:solidFill>
                <a:latin typeface="Prompt"/>
              </a:rPr>
              <a:t>ศัพท์น่ารู้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et al.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และคณะ (ผู้เขียนร่วม)   ·   </a:t>
            </a:r>
            <a:r>
              <a:rPr sz="1150" b="1" i="0">
                <a:solidFill>
                  <a:srgbClr val="FAFAF9"/>
                </a:solidFill>
                <a:latin typeface="Prompt"/>
              </a:rPr>
              <a:t>ACL / NAACL / EMNLP</a:t>
            </a:r>
            <a:r>
              <a:rPr sz="1150" b="0" i="0">
                <a:solidFill>
                  <a:srgbClr val="A8A29E"/>
                </a:solidFill>
                <a:latin typeface="Prompt"/>
              </a:rPr>
              <a:t> = เวทีวิชาการด้านประมวลผลภาษา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716C"/>
                </a:solidFill>
                <a:latin typeface="JetBrains Mono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1540</Words>
  <Application>Microsoft Office PowerPoint</Application>
  <PresentationFormat>Widescreen</PresentationFormat>
  <Paragraphs>205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Cambria Math</vt:lpstr>
      <vt:lpstr>JetBrains Mono</vt:lpstr>
      <vt:lpstr>Prompt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chaiyut yujarurnkij</dc:creator>
  <cp:keywords/>
  <dc:description>generated using python-pptx</dc:description>
  <cp:lastModifiedBy>CHAYUT YUJAROENKIJ</cp:lastModifiedBy>
  <cp:revision>5</cp:revision>
  <dcterms:created xsi:type="dcterms:W3CDTF">2013-01-27T09:14:16Z</dcterms:created>
  <dcterms:modified xsi:type="dcterms:W3CDTF">2026-09-28T15:13:50Z</dcterms:modified>
  <cp:category/>
</cp:coreProperties>
</file>
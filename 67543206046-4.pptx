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90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ENGCE 408  ·  ปัญญาประดิษฐ์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949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AFAF9"/>
                </a:solidFill>
                <a:latin typeface="Prompt"/>
              </a:rPr>
              <a:t>กระบวนทัศน์ใหม่
ของการรู้จำรูปแบบ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D3D1"/>
                </a:solidFill>
                <a:latin typeface="Prompt"/>
              </a:rPr>
              <a:t>จาก LSTM สู่ Transformer — การเปรียบเทียบเชิงประจักษ์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D6D3D1"/>
                </a:solidFill>
                <a:latin typeface="Prompt"/>
              </a:rPr>
              <a:t>บนงานจำแนกความรู้สึก (Sentiment Analysis) ชุดข้อมูล IMDb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46304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6949440" cy="17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ชื่อผู้จัดทำ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ชยุตม์ อยู่เจริญกิจ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รหัสนักศึกษา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67543206046-4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รายวิชา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/ </a:t>
            </a:r>
            <a:r>
              <a:rPr sz="1400" b="0" i="0" dirty="0" err="1">
                <a:solidFill>
                  <a:srgbClr val="78716C"/>
                </a:solidFill>
                <a:latin typeface="Prompt"/>
              </a:rPr>
              <a:t>กลุ่มเรียน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ENGCE408_SEC1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อาจารย์ผู้สอน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 err="1">
                <a:solidFill>
                  <a:srgbClr val="FAFAF9"/>
                </a:solidFill>
                <a:latin typeface="Prompt"/>
              </a:rPr>
              <a:t>ผศ.ดร.สมนึก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 </a:t>
            </a:r>
            <a:r>
              <a:rPr sz="1500" b="1" i="0" dirty="0" err="1">
                <a:solidFill>
                  <a:srgbClr val="FAFAF9"/>
                </a:solidFill>
                <a:latin typeface="Prompt"/>
              </a:rPr>
              <a:t>สุระธง</a:t>
            </a:r>
            <a:endParaRPr sz="15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ภาคการศึกษา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1/2569</a:t>
            </a:r>
          </a:p>
        </p:txBody>
      </p:sp>
      <p:pic>
        <p:nvPicPr>
          <p:cNvPr id="8" name="Picture 7" descr="b3ac3fcbe52099da92f4182926ffa4a67626261eb65249c10574938d7261f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817" y="1463040"/>
            <a:ext cx="1868285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4348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AFAF9"/>
                </a:solidFill>
                <a:latin typeface="Prompt"/>
              </a:rPr>
              <a:t>มหาวิทยาลัยเทคโนโลยี
ราชมงคลล้านนา เชียงใหม่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BBF24"/>
                </a:solidFill>
                <a:latin typeface="JetBrains Mono"/>
              </a:rPr>
              <a:t>RMUTL CHIANG MAI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01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ที่มาและความสำคัญของปัญหา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Why sentiment analysis still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959352" cy="356616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205740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BBF24"/>
                </a:solidFill>
                <a:latin typeface="Prompt"/>
              </a:rPr>
              <a:t>คำถามงานวิจัย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6D3D1"/>
                </a:solidFill>
                <a:latin typeface="Prompt"/>
              </a:rPr>
              <a:t>เมื่อให้ LSTM และ BERT ที่ผ่านการ fine-tune
ทำโจทย์เดียวกัน — จำแนกความรู้สึกของรีวิว
ภาพยนตร์ IMDb — ฝ่ายใดแม่นยำกว่า
และต้องแลกมาด้วยต้นทุนเท่าไร?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8A8D61-3408-BED6-FBB2-4418374241EF}"/>
              </a:ext>
            </a:extLst>
          </p:cNvPr>
          <p:cNvSpPr/>
          <p:nvPr/>
        </p:nvSpPr>
        <p:spPr>
          <a:xfrm>
            <a:off x="459943" y="1766586"/>
            <a:ext cx="6763817" cy="238923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554098"/>
            <a:ext cx="10515600" cy="3400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 err="1">
                <a:solidFill>
                  <a:srgbClr val="D6D3D1"/>
                </a:solidFill>
                <a:latin typeface="Prompt"/>
              </a:rPr>
              <a:t>ขอบเขต</a:t>
            </a:r>
            <a:r>
              <a:rPr sz="1400" b="0" i="0" dirty="0">
                <a:solidFill>
                  <a:srgbClr val="D6D3D1"/>
                </a:solidFill>
                <a:latin typeface="Prompt"/>
              </a:rPr>
              <a:t>: </a:t>
            </a:r>
            <a:r>
              <a:rPr sz="1400" b="0" i="0" dirty="0" err="1">
                <a:solidFill>
                  <a:srgbClr val="D6D3D1"/>
                </a:solidFill>
                <a:latin typeface="Prompt"/>
              </a:rPr>
              <a:t>จำแนกแบบทวิภาค</a:t>
            </a:r>
            <a:r>
              <a:rPr sz="1400" b="0" i="0" dirty="0">
                <a:solidFill>
                  <a:srgbClr val="D6D3D1"/>
                </a:solidFill>
                <a:latin typeface="Prompt"/>
              </a:rPr>
              <a:t> (</a:t>
            </a:r>
            <a:r>
              <a:rPr sz="1400" b="0" i="0" dirty="0" err="1">
                <a:solidFill>
                  <a:srgbClr val="D6D3D1"/>
                </a:solidFill>
                <a:latin typeface="Prompt"/>
              </a:rPr>
              <a:t>บวก</a:t>
            </a:r>
            <a:r>
              <a:rPr sz="1400" b="0" i="0" dirty="0">
                <a:solidFill>
                  <a:srgbClr val="D6D3D1"/>
                </a:solidFill>
                <a:latin typeface="Prompt"/>
              </a:rPr>
              <a:t>/</a:t>
            </a:r>
            <a:r>
              <a:rPr sz="1400" b="0" i="0" dirty="0" err="1">
                <a:solidFill>
                  <a:srgbClr val="D6D3D1"/>
                </a:solidFill>
                <a:latin typeface="Prompt"/>
              </a:rPr>
              <a:t>ลบ</a:t>
            </a:r>
            <a:r>
              <a:rPr sz="1400" b="0" i="0" dirty="0">
                <a:solidFill>
                  <a:srgbClr val="D6D3D1"/>
                </a:solidFill>
                <a:latin typeface="Prompt"/>
              </a:rPr>
              <a:t>)  ·  </a:t>
            </a:r>
            <a:r>
              <a:rPr sz="1400" b="0" i="0" dirty="0" err="1">
                <a:solidFill>
                  <a:srgbClr val="D6D3D1"/>
                </a:solidFill>
                <a:latin typeface="Prompt"/>
              </a:rPr>
              <a:t>ชุดข้อมูลสมดุล</a:t>
            </a:r>
            <a:r>
              <a:rPr sz="1400" b="0" i="0" dirty="0">
                <a:solidFill>
                  <a:srgbClr val="D6D3D1"/>
                </a:solidFill>
                <a:latin typeface="Prompt"/>
              </a:rPr>
              <a:t>  ·  </a:t>
            </a:r>
            <a:r>
              <a:rPr sz="1400" b="0" i="0" dirty="0" err="1">
                <a:solidFill>
                  <a:srgbClr val="D6D3D1"/>
                </a:solidFill>
                <a:latin typeface="Prompt"/>
              </a:rPr>
              <a:t>วัดผลด้วย</a:t>
            </a:r>
            <a:r>
              <a:rPr sz="1400" b="0" i="0" dirty="0">
                <a:solidFill>
                  <a:srgbClr val="D6D3D1"/>
                </a:solidFill>
                <a:latin typeface="Prompt"/>
              </a:rPr>
              <a:t> Accuracy, Precision, Recall,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383" y="6175808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ทวิภาค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 (binary)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แบ่ง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2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กลุ่ม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บวก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/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ลบ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IMDb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ชุดข้อมูลรีวิวภาพยนตร์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 dirty="0">
                <a:solidFill>
                  <a:srgbClr val="FBBF24"/>
                </a:solidFill>
                <a:latin typeface="Prompt"/>
              </a:rPr>
              <a:t>▸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ความคิดเห็นนับล้าน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ถูกเขียนขึ้นทุกวันบนแพลตฟอร์มออนไลน์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—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ธุรกิจต้องรู้ว่าลูกค้า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"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รู้สึก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"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อย่างไรกับสินค้าและบริการ</a:t>
            </a:r>
            <a:endParaRPr sz="160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1" i="0" dirty="0">
                <a:solidFill>
                  <a:srgbClr val="FBBF24"/>
                </a:solidFill>
                <a:latin typeface="Prompt"/>
              </a:rPr>
              <a:t>▸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โมเดลคลาสสิกอย่าง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 LSTM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เคยเป็นมาตรฐานของงานประมวลผลภาษา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แต่มีข้อจำกัดเชิงโครงสร้างที่แก้ได้ยาก</a:t>
            </a:r>
            <a:endParaRPr sz="160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1" i="0" dirty="0">
                <a:solidFill>
                  <a:srgbClr val="FBBF24"/>
                </a:solidFill>
                <a:latin typeface="Prompt"/>
              </a:rPr>
              <a:t>▸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Transformer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และ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 BERT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เปลี่ยนกระบวนทัศน์ด้วยกลไก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self-attention —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งานวิจัยนี้พิสูจน์ด้วยตัวเลขจริงว่าต่างกันแค่ไหน</a:t>
            </a:r>
            <a:endParaRPr sz="1600" b="0" i="0" dirty="0">
              <a:solidFill>
                <a:srgbClr val="D6D3D1"/>
              </a:solidFill>
              <a:latin typeface="Promp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5214F1-E9C8-3EC0-8EC4-E7E063269B50}"/>
              </a:ext>
            </a:extLst>
          </p:cNvPr>
          <p:cNvSpPr/>
          <p:nvPr/>
        </p:nvSpPr>
        <p:spPr>
          <a:xfrm>
            <a:off x="545690" y="4577901"/>
            <a:ext cx="3598607" cy="148254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F59E0B"/>
                </a:solidFill>
                <a:latin typeface="JetBrains Mono"/>
              </a:rPr>
              <a:t>02  ·  </a:t>
            </a:r>
            <a:r>
              <a:rPr sz="3000" b="1" i="0" dirty="0">
                <a:solidFill>
                  <a:srgbClr val="FAFAF9"/>
                </a:solidFill>
                <a:latin typeface="Prompt"/>
              </a:rPr>
              <a:t>LSTM: </a:t>
            </a:r>
            <a:r>
              <a:rPr sz="3000" b="1" i="0" dirty="0" err="1">
                <a:solidFill>
                  <a:srgbClr val="FAFAF9"/>
                </a:solidFill>
                <a:latin typeface="Prompt"/>
              </a:rPr>
              <a:t>หน่วยความจำแบบวนซ้ำ</a:t>
            </a:r>
            <a:endParaRPr sz="30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 dirty="0">
                <a:solidFill>
                  <a:srgbClr val="A8A29E"/>
                </a:solidFill>
                <a:latin typeface="Prompt"/>
              </a:rPr>
              <a:t>Long Short-Term Memory — the recurrent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D6D3D1"/>
                </a:solidFill>
                <a:latin typeface="Prompt"/>
              </a:rPr>
              <a:t>อ่านประโยคทีละคำจากซ้ายไปขวา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did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like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907496"/>
            <a:ext cx="105156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th-TH" sz="1500" dirty="0">
                <a:solidFill>
                  <a:schemeClr val="bg1"/>
                </a:solidFill>
              </a:rPr>
              <a:t>LSTM อ่านทีละคำ ส่งต่อความจำทีละขั้น — ประโยคยิ่งยาว ข้อมูลจากต้นประโยคยิ่งสูญหายไประหว่างทาง</a:t>
            </a:r>
            <a:endParaRPr sz="1500" b="0" i="0" dirty="0">
              <a:solidFill>
                <a:schemeClr val="bg1"/>
              </a:solidFill>
              <a:latin typeface="Prom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7185"/>
                </a:solidFill>
                <a:latin typeface="Prompt"/>
              </a:rPr>
              <a:t>จุดอ่อนเชิงโครงสร้าง</a:t>
            </a:r>
            <a:endParaRPr sz="1600" b="1" i="0" dirty="0">
              <a:solidFill>
                <a:srgbClr val="FB7185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 i="0" dirty="0">
                <a:solidFill>
                  <a:srgbClr val="D6D3D1"/>
                </a:solidFill>
                <a:latin typeface="Prompt"/>
              </a:rPr>
              <a:t>▸ 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ประมวลผลแบบลำดับขั้น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—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ขนานไม่ได้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ช้าบนข้อมูลยาว</a:t>
            </a:r>
            <a:endParaRPr sz="145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 i="0" dirty="0">
                <a:solidFill>
                  <a:srgbClr val="D6D3D1"/>
                </a:solidFill>
                <a:latin typeface="Prompt"/>
              </a:rPr>
              <a:t>▸ 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ความจำระยะยาวเสื่อม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—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บริบทไกล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ๆ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หลุดหาย</a:t>
            </a:r>
            <a:endParaRPr sz="145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 i="0" dirty="0">
                <a:solidFill>
                  <a:srgbClr val="D6D3D1"/>
                </a:solidFill>
                <a:latin typeface="Prompt"/>
              </a:rPr>
              <a:t>▸ 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มองเห็นแค่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"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อดีต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" —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ไม่รู้บริบทด้านขวาของคำ</a:t>
            </a:r>
            <a:endParaRPr sz="1450" b="0" i="0" dirty="0">
              <a:solidFill>
                <a:srgbClr val="D6D3D1"/>
              </a:solidFill>
              <a:latin typeface="Promp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1383" y="6097742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hidden state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สถานะความจำภายในโมเดล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vanishing gradient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เกรเดียนต์จางหายระหว่างฝึก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03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Transformer: มองเห็นทั้งประโยคพร้อมกัน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Self-attention — the paradigm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2960" y="2185439"/>
                <a:ext cx="10515600" cy="65832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2200" b="1" i="0" dirty="0">
                    <a:solidFill>
                      <a:srgbClr val="FAFAF9"/>
                    </a:solidFill>
                    <a:latin typeface="JetBrains Mono"/>
                  </a:rPr>
                  <a:t>Attention</a:t>
                </a:r>
                <a:r>
                  <a:rPr sz="2200" b="0" i="0" dirty="0">
                    <a:solidFill>
                      <a:srgbClr val="D6D3D1"/>
                    </a:solidFill>
                    <a:latin typeface="JetBrains Mono"/>
                  </a:rPr>
                  <a:t>(Q, K, V)  =  </a:t>
                </a:r>
                <a:r>
                  <a:rPr sz="2200" b="1" i="0" dirty="0" err="1">
                    <a:solidFill>
                      <a:srgbClr val="FBBF24"/>
                    </a:solidFill>
                    <a:latin typeface="JetBrains Mono"/>
                  </a:rPr>
                  <a:t>softmax</a:t>
                </a:r>
                <a14:m>
                  <m:oMath xmlns:m="http://schemas.openxmlformats.org/officeDocument/2006/math">
                    <m:r>
                      <a:rPr lang="th-TH" sz="2200" b="0" i="1" dirty="0" smtClean="0">
                        <a:solidFill>
                          <a:srgbClr val="D6D3D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𝑄𝐾</m:t>
                        </m:r>
                        <m:r>
                          <a:rPr lang="th-TH" sz="15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𝑑𝑘</m:t>
                        </m:r>
                      </m:den>
                    </m:f>
                    <m:r>
                      <a:rPr lang="th-TH" sz="2200" b="0" i="1" dirty="0">
                        <a:solidFill>
                          <a:srgbClr val="D6D3D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th-TH" sz="2200" b="1" i="1" dirty="0">
                        <a:solidFill>
                          <a:srgbClr val="FAFAF9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sz="2200" b="1" i="0" dirty="0">
                  <a:solidFill>
                    <a:srgbClr val="FAFAF9"/>
                  </a:solidFill>
                  <a:latin typeface="JetBrains Mono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185439"/>
                <a:ext cx="10515600" cy="658322"/>
              </a:xfrm>
              <a:prstGeom prst="rect">
                <a:avLst/>
              </a:prstGeom>
              <a:blipFill>
                <a:blip r:embed="rId2"/>
                <a:stretch>
                  <a:fillRect b="-7477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3337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เมื่อคำนวณกับทุกโทเค็นในลำดับ โมเดลจะรู้ว่าคำไหนควร “สนใจ” คำไหน — ไม่ว่าจะอยู่ห่างกันแค่ไหน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20624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Prompt"/>
              </a:rPr>
              <a:t>ไม่ต้องวนซ้ำ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ประมวลผลทุกตำแหน่งพร้อมกัน
ขนานได้เต็มที่บน GPU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023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20624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34D399"/>
                </a:solidFill>
                <a:latin typeface="Prompt"/>
              </a:rPr>
              <a:t>บริบทสองทิศทาง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แต่ละคำมองเห็นทั้งประโยค
ซ้ายและขวาในครั้งเดียว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023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420624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Prompt"/>
              </a:rPr>
              <a:t>ความสัมพันธ์ระยะไกล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คำที่ห่างกันหลายสิบคำ
ยังเชื่อมโยงกันโดยตรง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567680"/>
            <a:ext cx="10515600" cy="312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ยกเลิกโครงสร้างวนซ้ำทั้งหมด  →  เหลือเพียง attention ล้วน ๆ — นี่คือหัวใจของ 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34608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self-attention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กลไกให้น้ำหนักความสำคัญระหว่างคำ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Q / K / V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สามเวกเตอร์คำถาม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–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คีย์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–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ค่า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04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BERT และการทำ Fine-tuning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Pre-train once, adapt to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FBBF24"/>
                </a:solidFill>
                <a:latin typeface="JetBrains Mono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AFAF9"/>
                </a:solidFill>
                <a:latin typeface="Prompt"/>
              </a:rPr>
              <a:t>ข้อความดิบ</a:t>
            </a:r>
            <a:endParaRPr sz="16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D6D3D1"/>
                </a:solidFill>
                <a:latin typeface="Prompt"/>
              </a:rPr>
              <a:t>รีวิว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 IMDb
2,000 </a:t>
            </a:r>
            <a:r>
              <a:rPr sz="1350" b="0" i="0" dirty="0" err="1">
                <a:solidFill>
                  <a:srgbClr val="D6D3D1"/>
                </a:solidFill>
                <a:latin typeface="Prompt"/>
              </a:rPr>
              <a:t>ตัวอย่าง</a:t>
            </a:r>
            <a:endParaRPr sz="1350" b="0" i="0" dirty="0">
              <a:solidFill>
                <a:srgbClr val="D6D3D1"/>
              </a:solidFill>
              <a:latin typeface="Promp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176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34D399"/>
                </a:solidFill>
                <a:latin typeface="JetBrains Mono"/>
              </a:rPr>
              <a:t>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AFAF9"/>
                </a:solidFill>
                <a:latin typeface="Prompt"/>
              </a:rPr>
              <a:t>WordPiece</a:t>
            </a:r>
            <a:endParaRPr sz="16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D6D3D1"/>
                </a:solidFill>
                <a:latin typeface="Prompt"/>
              </a:rPr>
              <a:t>แตกเป็นหน่วยย่อย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
vocab 30,522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JetBrains Mono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[CLS] + [SEP]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เติมโทเค็นพิเศษ
หัว–ท้ายประโยค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34D399"/>
                </a:solidFill>
                <a:latin typeface="JetBrains Mono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FAFAF9"/>
                </a:solidFill>
                <a:latin typeface="Prompt"/>
              </a:rPr>
              <a:t>BERT 12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ชั้น</a:t>
            </a:r>
            <a:endParaRPr sz="16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D6D3D1"/>
                </a:solidFill>
                <a:latin typeface="Prompt"/>
              </a:rPr>
              <a:t>สกัดเวกเตอร์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 768 </a:t>
            </a:r>
            <a:r>
              <a:rPr sz="1350" b="0" i="0" dirty="0" err="1">
                <a:solidFill>
                  <a:srgbClr val="D6D3D1"/>
                </a:solidFill>
                <a:latin typeface="Prompt"/>
              </a:rPr>
              <a:t>มิติ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
</a:t>
            </a:r>
            <a:r>
              <a:rPr sz="1350" b="0" i="0" dirty="0" err="1">
                <a:solidFill>
                  <a:srgbClr val="D6D3D1"/>
                </a:solidFill>
                <a:latin typeface="Prompt"/>
              </a:rPr>
              <a:t>จาก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 [CLS]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19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19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JetBrains Mono"/>
              </a:rPr>
              <a:t>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Classification Head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ชั้นเชิงเส้น + softmax
→ บวก / ลบ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Pre-train </a:t>
            </a:r>
            <a:r>
              <a:rPr sz="1500" b="0" i="0">
                <a:solidFill>
                  <a:srgbClr val="D6D3D1"/>
                </a:solidFill>
                <a:latin typeface="Prompt"/>
              </a:rPr>
              <a:t>บนข้อความมหาศาลมาก่อน  →  </a:t>
            </a:r>
            <a:r>
              <a:rPr sz="1500" b="1" i="0">
                <a:solidFill>
                  <a:srgbClr val="FBBF24"/>
                </a:solidFill>
                <a:latin typeface="Prompt"/>
              </a:rPr>
              <a:t>Fine-tune </a:t>
            </a:r>
            <a:r>
              <a:rPr sz="1500" b="0" i="0">
                <a:solidFill>
                  <a:srgbClr val="D6D3D1"/>
                </a:solidFill>
                <a:latin typeface="Prompt"/>
              </a:rPr>
              <a:t>เพียง 3 รอบบน IMDb ก็พร้อมใช้งาน — ไม่ต้องฝึกตั้งแต่ศูนย์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" y="5856440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[CLS]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โทเค็นพิเศษแทนความหมายทั้งประโยค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fine-tuning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ฝึกต่อยอดจากโมเดลสำเร็จรูป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solidFill>
                  <a:srgbClr val="78716C"/>
                </a:solidFill>
                <a:latin typeface="JetBrains Mono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05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กระบวนการทดลอง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Experimental pipeline — same data, same task, fair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ข้อมูล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IMDb Reviews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2,000 ฝึก / 500 ทดสอบ
สมดุลบวก–ลบ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เตรียมข้อมูล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Preprocess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ตัด/เติมให้ยาว 128
โทเค็น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ฝึกสอน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Train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LSTM 5 รอบ · BERT 3 รอบ
batch 32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ประเมินผล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Evaluate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Accuracy · Precision
Recall ·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AFAF9"/>
                </a:solidFill>
                <a:latin typeface="Prompt"/>
              </a:rPr>
              <a:t>ควบคุมตัวแปรรบกวน: </a:t>
            </a:r>
            <a:r>
              <a:rPr sz="1500" b="0" i="0">
                <a:solidFill>
                  <a:srgbClr val="D6D3D1"/>
                </a:solidFill>
                <a:latin typeface="Prompt"/>
              </a:rPr>
              <a:t>ข้อมูลชุดเดียวกัน แบ่งด้วย seed 42 ความยาวสูงสุด 128 โทเค็น — สิ่งที่ต่างมีเพียง "สถาปัตยกรรมโมเดล"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3860"/>
            <a:ext cx="1109441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 dirty="0" err="1">
                <a:solidFill>
                  <a:srgbClr val="A8A29E"/>
                </a:solidFill>
                <a:latin typeface="Prompt"/>
              </a:rPr>
              <a:t>ภาพรวมการทดลอง</a:t>
            </a:r>
            <a:r>
              <a:rPr sz="2000" b="0" i="1" dirty="0">
                <a:solidFill>
                  <a:srgbClr val="A8A29E"/>
                </a:solidFill>
                <a:latin typeface="Prompt"/>
              </a:rPr>
              <a:t>: </a:t>
            </a:r>
            <a:r>
              <a:rPr sz="2000" b="0" i="1" dirty="0" err="1">
                <a:solidFill>
                  <a:srgbClr val="A8A29E"/>
                </a:solidFill>
                <a:latin typeface="Prompt"/>
              </a:rPr>
              <a:t>ข้อมูล</a:t>
            </a:r>
            <a:r>
              <a:rPr sz="2000" b="0" i="1" dirty="0">
                <a:solidFill>
                  <a:srgbClr val="A8A29E"/>
                </a:solidFill>
                <a:latin typeface="Prompt"/>
              </a:rPr>
              <a:t> → </a:t>
            </a:r>
            <a:r>
              <a:rPr sz="2000" b="0" i="1" dirty="0" err="1">
                <a:solidFill>
                  <a:srgbClr val="A8A29E"/>
                </a:solidFill>
                <a:latin typeface="Prompt"/>
              </a:rPr>
              <a:t>ฝึกสอน</a:t>
            </a:r>
            <a:r>
              <a:rPr sz="2000" b="0" i="1" dirty="0">
                <a:solidFill>
                  <a:srgbClr val="A8A29E"/>
                </a:solidFill>
                <a:latin typeface="Prompt"/>
              </a:rPr>
              <a:t> → </a:t>
            </a:r>
            <a:r>
              <a:rPr sz="2000" b="0" i="1" dirty="0" err="1">
                <a:solidFill>
                  <a:srgbClr val="A8A29E"/>
                </a:solidFill>
                <a:latin typeface="Prompt"/>
              </a:rPr>
              <a:t>ประเมินผล</a:t>
            </a:r>
            <a:endParaRPr sz="2000" b="0" i="1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" y="5881840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seed 42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ค่าคงที่ให้การสุ่มซ้ำได้เหมือนเดิม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batch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กลุ่มข้อมูลที่ฝึกพร้อมกันในหนึ่งขั้น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06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การตั้งค่าการทดลอง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Hyperparameters — every knob on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86563"/>
              </p:ext>
            </p:extLst>
          </p:nvPr>
        </p:nvGraphicFramePr>
        <p:xfrm>
          <a:off x="548640" y="1783080"/>
          <a:ext cx="6675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พารามิเตอร์</a:t>
                      </a:r>
                      <a:endParaRPr sz="1400" b="1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LSTM</a:t>
                      </a:r>
                      <a:endParaRPr sz="1400" b="1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BERT (bert-base-uncased)</a:t>
                      </a:r>
                      <a:endParaRPr sz="1400" b="1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Embedding dim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128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768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Hidden size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128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768 ([CLS])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จำนวนรอบฝึก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Batch size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32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16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Learning rate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 × 10⁻³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2 × 10⁻⁵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Optimizer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AdamW + weight decay 0.01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Dropout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พารามิเตอร์รวม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~4.04 ล้าน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~110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ล้าน</a:t>
                      </a:r>
                      <a:endParaRPr sz="1300" b="0" i="0" dirty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783080"/>
            <a:ext cx="414223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611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ข้อมูล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AFAF9"/>
                </a:solidFill>
                <a:latin typeface="JetBrains Mono"/>
              </a:rPr>
              <a:t>2,000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ฝึก  ·  </a:t>
            </a:r>
            <a:r>
              <a:rPr sz="1500" b="1" i="0">
                <a:solidFill>
                  <a:srgbClr val="FAFAF9"/>
                </a:solidFill>
                <a:latin typeface="JetBrains Mono"/>
              </a:rPr>
              <a:t>500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ทดสอบ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383280"/>
            <a:ext cx="414223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3520440"/>
            <a:ext cx="3611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สภาพแวดล้อม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Google Colab  ·  NVIDIA T4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JetBrains Mono"/>
              </a:rPr>
              <a:t>PyTorch + Hugging 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83" y="6061889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learning rate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ขนาดก้าวในการปรับน้ำหนัก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weight decay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ลงโทษน้ำหนักมาก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ป้องกัน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overfit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07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ผลการทดลอง: ตัวเลขไม่โกหก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Head-to-head results on the 500-sample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7556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27632"/>
            <a:ext cx="3776472" cy="1243584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7373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A29E"/>
                </a:solidFill>
                <a:latin typeface="Prompt"/>
              </a:rPr>
              <a:t>ความแม่นยำ 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BERT  </a:t>
            </a:r>
            <a:r>
              <a:rPr sz="3000" b="1" i="0">
                <a:solidFill>
                  <a:srgbClr val="FAFAF9"/>
                </a:solidFill>
                <a:latin typeface="JetBrains Mono"/>
              </a:rPr>
              <a:t>85.60%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D3D1"/>
                </a:solidFill>
                <a:latin typeface="JetBrains Mono"/>
              </a:rPr>
              <a:t>LSTM 55.20%  →  Δ +30.40 จุด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776472" cy="1243584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3127248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A29E"/>
                </a:solidFill>
                <a:latin typeface="Prompt"/>
              </a:rPr>
              <a:t>ความเที่ยง Precision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BERT  </a:t>
            </a:r>
            <a:r>
              <a:rPr sz="3000" b="1" i="0">
                <a:solidFill>
                  <a:srgbClr val="FAFAF9"/>
                </a:solidFill>
                <a:latin typeface="JetBrains Mono"/>
              </a:rPr>
              <a:t>83.72%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D3D1"/>
                </a:solidFill>
                <a:latin typeface="JetBrains Mono"/>
              </a:rPr>
              <a:t>LSTM 54.44%  →  Δ +29.28 จุด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407408"/>
            <a:ext cx="3776472" cy="1243584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4517136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A29E"/>
                </a:solidFill>
                <a:latin typeface="Prompt"/>
              </a:rPr>
              <a:t>ความระลึก Recall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BERT  </a:t>
            </a:r>
            <a:r>
              <a:rPr sz="3000" b="1" i="0">
                <a:solidFill>
                  <a:srgbClr val="FAFAF9"/>
                </a:solidFill>
                <a:latin typeface="JetBrains Mono"/>
              </a:rPr>
              <a:t>87.80%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D3D1"/>
                </a:solidFill>
                <a:latin typeface="JetBrains Mono"/>
              </a:rPr>
              <a:t>LSTM 54.88%  →  Δ +32.92 จุด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05856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A29E"/>
                </a:solidFill>
                <a:latin typeface="Prompt"/>
              </a:rPr>
              <a:t>เมทริกทั้งหมดคำนวณบนชุดทดสอบ 500 ตัวอย่าง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72124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precision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ทายบวกแล้วถูกกี่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%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recall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ของบวกจริง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จับได้กี่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08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เส้นทางการเรียนรู้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Training loss: first vs final epoch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394960" cy="27864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783080"/>
            <a:ext cx="5376672" cy="1874519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88900" cy="187451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47672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JetBrains Mono"/>
              </a:rPr>
              <a:t>LSTM: 0.6976 → 0.3234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ลด </a:t>
            </a:r>
            <a:r>
              <a:rPr sz="1400" b="1" i="0">
                <a:solidFill>
                  <a:srgbClr val="FAFAF9"/>
                </a:solidFill>
                <a:latin typeface="JetBrains Mono"/>
              </a:rPr>
              <a:t>53.6%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loss ลดลงต่อเนื่อง แต่ค้างที่ระดับสูง — โมเดลเรียนรู้ได้จำกัด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94760"/>
            <a:ext cx="5376672" cy="1874519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3794760"/>
            <a:ext cx="88900" cy="1874519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3959352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JetBrains Mono"/>
              </a:rPr>
              <a:t>BERT: 0.4826 → 0.1369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ลด </a:t>
            </a:r>
            <a:r>
              <a:rPr sz="1400" b="1" i="0">
                <a:solidFill>
                  <a:srgbClr val="FAFAF9"/>
                </a:solidFill>
                <a:latin typeface="JetBrains Mono"/>
              </a:rPr>
              <a:t>71.6%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เริ่มต่ำกว่าและลงลึกกว่า — ความรู้จาก pre-training ต่อยอดได้ทันที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2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A29E"/>
                </a:solidFill>
                <a:latin typeface="Prompt"/>
              </a:rPr>
              <a:t>เปรียบเทียบเฉพาะค่ารอบแรกและรอบสุดท้ายที่รายงานไว้จริง ไม่มีการประมาณค่ากลาง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loss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ค่าความผิดพลาด ยิ่งต่ำยิ่งดี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converge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ลู่เข้าสู่ค่าคงที่เมื่อฝึกนานพอ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09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เมื่อใดที่ LSTM พลาด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Error analysis — where recurrence breaks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22392" cy="429768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AFAF9"/>
                </a:solidFill>
                <a:latin typeface="Prompt"/>
              </a:rPr>
              <a:t>ประโยคเชิงซ้อน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1">
                <a:solidFill>
                  <a:srgbClr val="FBBF24"/>
                </a:solidFill>
                <a:latin typeface="Prompt"/>
              </a:rPr>
              <a:t>“The movie was not bad, but the ending
was barely watchable.”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B7185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LSTM: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อ่านซ้าย→ขวาทีละขั้น สับสนกับการปฏิเสธซ้อนและความกำกวม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BERT: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รับรู้บริบทสองทิศทางพร้อมกัน แยกแยะความหมายได้แม่นยำกว่า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422392" cy="429768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AFAF9"/>
                </a:solidFill>
                <a:latin typeface="Prompt"/>
              </a:rPr>
              <a:t>คำปฏิเสธและคำกำกวม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395728"/>
            <a:ext cx="4800600" cy="566928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395728"/>
            <a:ext cx="4800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JetBrains Mono"/>
              </a:rPr>
              <a:t>not  ·  barely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08960"/>
            <a:ext cx="4800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B7185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LSTM: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อ่านซ้าย→ขวาทีละขั้น สับสนกับการปฏิเสธซ้อนและความกำกวม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BERT: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รับรู้บริบทสองทิศทางพร้อมกัน แยกแยะความหมายได้แม่นยำกว่า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การปฏิเสธซ้อน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คำปฏิเสธหลายชั้น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บริบทสองทิศทาง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มองซ้าย–ขวาของคำพร้อมกัน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10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ความแม่นยำ vs ต้นทุน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The engineering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669280" cy="2450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434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A29E"/>
                </a:solidFill>
                <a:latin typeface="Prompt"/>
              </a:rPr>
              <a:t>LSTM 0.82 วินาที — แท่งเล็กจนแทบมองไม่เห็นเมื่อเทียบสเกลเดียวกับ 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514807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88900" cy="1417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874519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ต้นทุนที่จ่าย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B7185"/>
                </a:solidFill>
                <a:latin typeface="JetBrains Mono"/>
              </a:rPr>
              <a:t>51×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 ช้ากว่า ต่อรอบการฝึก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D3D1"/>
                </a:solidFill>
                <a:latin typeface="JetBrains Mono"/>
              </a:rPr>
              <a:t>0.82 → 42.07 วินาที/รอบ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566160"/>
            <a:ext cx="514807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3566160"/>
            <a:ext cx="88900" cy="1417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70332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สิ่งที่ได้กลับมา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4D399"/>
                </a:solidFill>
                <a:latin typeface="JetBrains Mono"/>
              </a:rPr>
              <a:t>+30.40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 จุดความแม่นยำที่เพิ่มขึ้น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D3D1"/>
                </a:solidFill>
                <a:latin typeface="JetBrains Mono"/>
              </a:rPr>
              <a:t>55.20% → 85.60%  ·  F1 54.66% → 85.71%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2004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2925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BBF24"/>
                </a:solidFill>
                <a:latin typeface="Prompt"/>
              </a:rPr>
              <a:t>แลก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247640"/>
            <a:ext cx="10515600" cy="61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AFAF9"/>
                </a:solidFill>
                <a:latin typeface="Prompt"/>
              </a:rPr>
              <a:t>จ่ายเวลาประมวลผลเพิ่มขึ้น </a:t>
            </a:r>
            <a:r>
              <a:rPr sz="1600" b="1" i="0">
                <a:solidFill>
                  <a:srgbClr val="FB7185"/>
                </a:solidFill>
                <a:latin typeface="Prompt"/>
              </a:rPr>
              <a:t>~51 เท่า</a:t>
            </a:r>
            <a:r>
              <a:rPr sz="1600" b="0" i="0">
                <a:solidFill>
                  <a:srgbClr val="FAFAF9"/>
                </a:solidFill>
                <a:latin typeface="Prompt"/>
              </a:rPr>
              <a:t> แลกความแม่นยำที่ก้าวกระโดด </a:t>
            </a:r>
            <a:r>
              <a:rPr sz="1600" b="1" i="0">
                <a:solidFill>
                  <a:srgbClr val="FBBF24"/>
                </a:solidFill>
                <a:latin typeface="Prompt"/>
              </a:rPr>
              <a:t>+30.40 จุด</a:t>
            </a:r>
            <a:r>
              <a:rPr sz="1600" b="0" i="0">
                <a:solidFill>
                  <a:srgbClr val="FAFAF9"/>
                </a:solidFill>
                <a:latin typeface="Prompt"/>
              </a:rPr>
              <a:t> — คุ้มค่าเชิงวิศวกรรม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รอบการฝึก (epoch)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โมเดลเห็นข้อมูลฝึกครบ 1 ครั้ง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F1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คะแนนรวม precision และ recall เข้าด้วยกัน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11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บทสรุป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What the numbers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88900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BERT ชนะขาดทุกเมทริก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ความแม่นยำ 85.60% เทียบกับ 55.20% — ต่างกัน 30.40 จุด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07791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907791"/>
            <a:ext cx="88900" cy="9144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ความรู้จาก pre-training คือตัวแปรสำคัญ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ไม่ต้องเริ่มนับหนึ่งใหม่บนงานเฉพาะทาง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86783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3986783"/>
            <a:ext cx="88900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3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LSTM ไม่ไร้ค่า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เร็วกว่า ~51 เท่าต่อรอบ — ยังเหมาะกับงานที่ทรัพยากรจำกัด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65776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5065776"/>
            <a:ext cx="88900" cy="91440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57216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ข้อจำกัดของงานวิจัย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ชุดข้อมูล 2,000 ตัวอย่าง โดเมนเดียว — ผลอาจต่างบนโดเมนอื่น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pre-training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ฝึกพื้นฐานบนข้อมูลมหาศาลมาก่อน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โดเมน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ขอบเขตหรือประเภทของข้อมูล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12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เอกสารอ้างอิง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4415" cy="41605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424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Hochreiter, S., &amp; Schmidhuber, J. (1997).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Long short-term memory. Neural Computation, 9(8), 1735–1780.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Vaswani, A., et al. (2017).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Attention is all you need. Advances in Neural Information Processing Systems, 30.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Devlin, J., et al. (2019).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BERT: Pre-training of deep bidirectional transformers for language understanding. NAACL-HLT.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Maas, A. L., et al. (2011).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Learning word vectors for sentiment analysis. ACL-HLT.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Wolf, T., et al. (2020).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Transformers: State-of-the-art natural language processing. EMNLP (demo).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1515</Words>
  <Application>Microsoft Office PowerPoint</Application>
  <PresentationFormat>Widescreen</PresentationFormat>
  <Paragraphs>204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JetBrains Mono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chaiyut yujarurnkij</dc:creator>
  <cp:keywords/>
  <dc:description>generated using python-pptx</dc:description>
  <cp:lastModifiedBy>CHAYUT YUJAROENKIJ</cp:lastModifiedBy>
  <cp:revision>6</cp:revision>
  <dcterms:created xsi:type="dcterms:W3CDTF">2013-01-27T09:14:16Z</dcterms:created>
  <dcterms:modified xsi:type="dcterms:W3CDTF">2026-09-28T16:32:04Z</dcterms:modified>
  <cp:category/>
</cp:coreProperties>
</file>